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B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139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B5EA7">
              <a:alpha val="20000"/>
            </a:srgbClr>
          </a:solidFill>
          <a:ln w="12700">
            <a:solidFill>
              <a:srgbClr val="7B5E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8B8F0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B09FCC">
              <a:alpha val="15000"/>
            </a:srgbClr>
          </a:solidFill>
          <a:ln w="12700">
            <a:solidFill>
              <a:srgbClr val="B09FC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09FCC"/>
                </a:solidFill>
                <a:latin typeface="Montserrat" pitchFamily="2" charset="0"/>
              </a:rPr>
              <a:t>Pronađi. </a:t>
            </a:r>
            <a:r>
              <a:rPr lang="en-US" sz="1800" i="1" dirty="0" err="1">
                <a:solidFill>
                  <a:srgbClr val="B09FCC"/>
                </a:solidFill>
                <a:latin typeface="Montserrat" pitchFamily="2" charset="0"/>
              </a:rPr>
              <a:t>Održi</a:t>
            </a:r>
            <a:r>
              <a:rPr lang="en-US" sz="1800" i="1" dirty="0">
                <a:solidFill>
                  <a:srgbClr val="B09FCC"/>
                </a:solidFill>
                <a:latin typeface="Montserrat" pitchFamily="2" charset="0"/>
              </a:rPr>
              <a:t>. Optimizuj svoj ritam učenja.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2E3160"/>
          </a:solidFill>
          <a:ln w="6350">
            <a:solidFill>
              <a:srgbClr val="B09F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0B8"/>
                </a:solidFill>
              </a:rPr>
              <a:t>Pametan planer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33375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2E3160"/>
          </a:solidFill>
          <a:ln w="6350">
            <a:solidFill>
              <a:srgbClr val="B09F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0B8"/>
                </a:solidFill>
              </a:rPr>
              <a:t>AI učenje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33375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2E3160"/>
          </a:solidFill>
          <a:ln w="6350">
            <a:solidFill>
              <a:srgbClr val="B09F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0B8"/>
                </a:solidFill>
              </a:rPr>
              <a:t>Prilike za karijeru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890B8"/>
                </a:solidFill>
              </a:rPr>
              <a:t>Teodora Aleksić   ·  Lenka Nikolić  ·  Igor </a:t>
            </a:r>
            <a:r>
              <a:rPr lang="en-US" sz="900" dirty="0" err="1">
                <a:solidFill>
                  <a:srgbClr val="9890B8"/>
                </a:solidFill>
              </a:rPr>
              <a:t>Maljik</a:t>
            </a:r>
            <a:r>
              <a:rPr lang="en-US" sz="900" dirty="0">
                <a:solidFill>
                  <a:srgbClr val="9890B8"/>
                </a:solidFill>
              </a:rPr>
              <a:t>  ·  Pavle Maksimović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C8B152-3955-7529-E850-AA32FAE64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17" t="22892" r="17329" b="27113"/>
          <a:stretch>
            <a:fillRect/>
          </a:stretch>
        </p:blipFill>
        <p:spPr>
          <a:xfrm>
            <a:off x="669974" y="459288"/>
            <a:ext cx="4420772" cy="189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Studenti imaju previše alata.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nijedan pravi.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51760" cy="868680"/>
          </a:xfrm>
          <a:prstGeom prst="rect">
            <a:avLst/>
          </a:prstGeom>
          <a:solidFill>
            <a:srgbClr val="2E3160">
              <a:alpha val="70000"/>
            </a:srgbClr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7963" y="2112264"/>
            <a:ext cx="735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Neon 80s" panose="02010500000200060000" pitchFamily="2" charset="0"/>
              </a:rPr>
              <a:t>6+</a:t>
            </a:r>
            <a:endParaRPr lang="en-US" sz="3200" dirty="0">
              <a:latin typeface="Neon 80s" panose="0201050000020006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97510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ispita i rokova</a:t>
            </a:r>
            <a:endParaRPr lang="en-US" sz="9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odjednom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2651760" cy="868680"/>
          </a:xfrm>
          <a:prstGeom prst="rect">
            <a:avLst/>
          </a:prstGeom>
          <a:solidFill>
            <a:srgbClr val="2E3160">
              <a:alpha val="70000"/>
            </a:srgbClr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5103" y="3118104"/>
            <a:ext cx="784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Neon 80s" panose="02010500000200060000" pitchFamily="2" charset="0"/>
              </a:rPr>
              <a:t>30%</a:t>
            </a:r>
            <a:endParaRPr lang="en-US" sz="3200" dirty="0">
              <a:latin typeface="Neon 80s" panose="0201050000020006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98094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vremena potrošeno</a:t>
            </a:r>
            <a:endParaRPr lang="en-US" sz="9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a planiranje, ne učenje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2651760" cy="868680"/>
          </a:xfrm>
          <a:prstGeom prst="rect">
            <a:avLst/>
          </a:prstGeom>
          <a:solidFill>
            <a:srgbClr val="2E3160">
              <a:alpha val="70000"/>
            </a:srgbClr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572" y="4123944"/>
            <a:ext cx="8493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Neon 80s" panose="02010500000200060000" pitchFamily="2" charset="0"/>
              </a:rPr>
              <a:t>60%</a:t>
            </a:r>
            <a:endParaRPr lang="en-US" sz="3200" dirty="0">
              <a:latin typeface="Neon 80s" panose="0201050000020006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98678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studenata propušta</a:t>
            </a:r>
            <a:endParaRPr lang="en-US" sz="9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B09FCC"/>
                </a:solidFill>
                <a:latin typeface="Montserrat" pitchFamily="2" charset="0"/>
              </a:rPr>
              <a:t>prilike jer ne prate rokove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3474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890B8"/>
                </a:solidFill>
                <a:latin typeface="Montserrat" pitchFamily="2" charset="0"/>
              </a:rPr>
              <a:t>Šta studenti zapravo doživljavaju?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0" y="868680"/>
            <a:ext cx="530352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051560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206240" y="1033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Ispit sutra. Plan? Ne postoji.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474720" y="1874520"/>
            <a:ext cx="530352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057400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06240" y="2039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Učim, ali ne znam šta mi "ne ide".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474720" y="2880360"/>
            <a:ext cx="530352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06324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206240" y="3044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Prijava na praksu? Rok je bio juče.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3474720" y="3886200"/>
            <a:ext cx="530352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6" name="Image 3" descr="Alarm clock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66744" y="4069080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206240" y="4050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Imam vreme </a:t>
            </a:r>
            <a:r>
              <a:rPr lang="en-US" sz="1350" dirty="0" err="1">
                <a:solidFill>
                  <a:srgbClr val="FFFFFF"/>
                </a:solidFill>
                <a:latin typeface="Montserrat" pitchFamily="2" charset="0"/>
              </a:rPr>
              <a:t>samo</a:t>
            </a: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ontserrat" pitchFamily="2" charset="0"/>
              </a:rPr>
              <a:t>uveče</a:t>
            </a: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. Kako da </a:t>
            </a:r>
            <a:r>
              <a:rPr lang="en-US" sz="1350" dirty="0" err="1">
                <a:solidFill>
                  <a:srgbClr val="FFFFFF"/>
                </a:solidFill>
                <a:latin typeface="Montserrat" pitchFamily="2" charset="0"/>
              </a:rPr>
              <a:t>iskoristim</a:t>
            </a:r>
            <a:r>
              <a:rPr lang="en-US" sz="1350" dirty="0">
                <a:solidFill>
                  <a:srgbClr val="FFFFFF"/>
                </a:solidFill>
                <a:latin typeface="Montserrat" pitchFamily="2" charset="0"/>
              </a:rPr>
              <a:t>?</a:t>
            </a:r>
            <a:endParaRPr lang="en-US" sz="13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Šta je PILOT?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9FCC"/>
                </a:solidFill>
                <a:latin typeface="Montserrat" pitchFamily="2" charset="0"/>
              </a:rPr>
              <a:t>Jedan sistem koji se </a:t>
            </a:r>
            <a:r>
              <a:rPr lang="en-US" sz="1400" i="1" dirty="0" err="1">
                <a:solidFill>
                  <a:srgbClr val="B09FCC"/>
                </a:solidFill>
                <a:latin typeface="Montserrat" pitchFamily="2" charset="0"/>
              </a:rPr>
              <a:t>prilagođava</a:t>
            </a:r>
            <a:r>
              <a:rPr lang="en-US" sz="140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400" i="1" dirty="0" err="1">
                <a:solidFill>
                  <a:srgbClr val="B09FCC"/>
                </a:solidFill>
                <a:latin typeface="Montserrat" pitchFamily="2" charset="0"/>
              </a:rPr>
              <a:t>potrebama</a:t>
            </a:r>
            <a:r>
              <a:rPr lang="en-US" sz="140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400" i="1" dirty="0" err="1">
                <a:solidFill>
                  <a:srgbClr val="B09FCC"/>
                </a:solidFill>
                <a:latin typeface="Montserrat" pitchFamily="2" charset="0"/>
              </a:rPr>
              <a:t>svakog</a:t>
            </a:r>
            <a:r>
              <a:rPr lang="en-US" sz="140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400" i="1" dirty="0" err="1">
                <a:solidFill>
                  <a:srgbClr val="B09FCC"/>
                </a:solidFill>
                <a:latin typeface="Montserrat" pitchFamily="2" charset="0"/>
              </a:rPr>
              <a:t>studenta</a:t>
            </a:r>
            <a:r>
              <a:rPr lang="en-US" sz="1400" i="1" dirty="0">
                <a:solidFill>
                  <a:srgbClr val="B09FCC"/>
                </a:solidFill>
                <a:latin typeface="Montserrat" pitchFamily="2" charset="0"/>
              </a:rPr>
              <a:t>.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383280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490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89280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" y="24048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18" charset="0"/>
              </a:rPr>
              <a:t>Planer </a:t>
            </a:r>
            <a:r>
              <a:rPr lang="en-US" sz="1600" b="1" dirty="0" err="1">
                <a:solidFill>
                  <a:srgbClr val="FFFFFF"/>
                </a:solidFill>
                <a:latin typeface="Georgia" panose="02040502050405020303" pitchFamily="18" charset="0"/>
              </a:rPr>
              <a:t>učenja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" y="2898648"/>
            <a:ext cx="2450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Automatski generiše plan na osnovu ciljeva, energije i stila. Ako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preskočiš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sesiju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raspored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se sam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prilagođava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743200" cy="3383280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743200" cy="64008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10712" y="1490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89280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2424" y="24048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18" charset="0"/>
              </a:rPr>
              <a:t>AI učenje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392424" y="2898648"/>
            <a:ext cx="2450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Upload materijala → AI kreira lekcije i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kvizove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Obnavljanje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gradiva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prema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krivi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zaboravljanja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.</a:t>
            </a:r>
          </a:p>
          <a:p>
            <a:endParaRPr lang="en-US" sz="1200" dirty="0">
              <a:solidFill>
                <a:srgbClr val="B09FCC"/>
              </a:solidFill>
              <a:latin typeface="Montserrat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72200" y="1325880"/>
            <a:ext cx="2743200" cy="3383280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72200" y="1325880"/>
            <a:ext cx="274320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336792" y="1490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89280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18504" y="24048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18" charset="0"/>
              </a:rPr>
              <a:t>Prilike i karijera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318504" y="2898648"/>
            <a:ext cx="2450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Stipendije,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prakse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konferencije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prilagođene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studentu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Rok za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prijavu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rgbClr val="B09FCC"/>
                </a:solidFill>
                <a:latin typeface="Montserrat" pitchFamily="2" charset="0"/>
              </a:rPr>
              <a:t>integrisan</a:t>
            </a:r>
            <a:r>
              <a:rPr lang="en-US" sz="1200" dirty="0">
                <a:solidFill>
                  <a:srgbClr val="B09FCC"/>
                </a:solidFill>
                <a:latin typeface="Montserrat" pitchFamily="2" charset="0"/>
              </a:rPr>
              <a:t> sa planerom.</a:t>
            </a:r>
            <a:endParaRPr lang="en-US" sz="12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Kome je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namenjen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 err="1">
                <a:solidFill>
                  <a:srgbClr val="B09FCC"/>
                </a:solidFill>
                <a:latin typeface="Montserrat" pitchFamily="2" charset="0"/>
              </a:rPr>
              <a:t>Različiti</a:t>
            </a:r>
            <a:r>
              <a:rPr lang="en-US" sz="135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350" i="1" dirty="0" err="1">
                <a:solidFill>
                  <a:srgbClr val="B09FCC"/>
                </a:solidFill>
                <a:latin typeface="Montserrat" pitchFamily="2" charset="0"/>
              </a:rPr>
              <a:t>tipovi</a:t>
            </a:r>
            <a:r>
              <a:rPr lang="en-US" sz="135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350" i="1" dirty="0" err="1">
                <a:solidFill>
                  <a:srgbClr val="B09FCC"/>
                </a:solidFill>
                <a:latin typeface="Montserrat" pitchFamily="2" charset="0"/>
              </a:rPr>
              <a:t>studenata</a:t>
            </a:r>
            <a:r>
              <a:rPr lang="en-US" sz="1350" i="1" dirty="0">
                <a:solidFill>
                  <a:srgbClr val="B09FCC"/>
                </a:solidFill>
                <a:latin typeface="Montserrat" pitchFamily="2" charset="0"/>
              </a:rPr>
              <a:t> – </a:t>
            </a:r>
            <a:r>
              <a:rPr lang="en-US" sz="1350" i="1" dirty="0" err="1">
                <a:solidFill>
                  <a:srgbClr val="B09FCC"/>
                </a:solidFill>
                <a:latin typeface="Montserrat" pitchFamily="2" charset="0"/>
              </a:rPr>
              <a:t>različite</a:t>
            </a:r>
            <a:r>
              <a:rPr lang="en-US" sz="1350" i="1" dirty="0">
                <a:solidFill>
                  <a:srgbClr val="B09FCC"/>
                </a:solidFill>
                <a:latin typeface="Montserrat" pitchFamily="2" charset="0"/>
              </a:rPr>
              <a:t> </a:t>
            </a:r>
            <a:r>
              <a:rPr lang="en-US" sz="1350" i="1" dirty="0" err="1">
                <a:solidFill>
                  <a:srgbClr val="B09FCC"/>
                </a:solidFill>
                <a:latin typeface="Montserrat" pitchFamily="2" charset="0"/>
              </a:rPr>
              <a:t>potrebe</a:t>
            </a:r>
            <a:r>
              <a:rPr lang="en-US" sz="1350" i="1" dirty="0">
                <a:solidFill>
                  <a:srgbClr val="B09FCC"/>
                </a:solidFill>
                <a:latin typeface="Montserrat" pitchFamily="2" charset="0"/>
              </a:rPr>
              <a:t>.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743200" cy="3493008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632" y="1499616"/>
            <a:ext cx="502920" cy="502920"/>
          </a:xfrm>
          <a:prstGeom prst="ellipse">
            <a:avLst/>
          </a:prstGeom>
          <a:solidFill>
            <a:srgbClr val="3A2E00"/>
          </a:solidFill>
          <a:ln w="6350">
            <a:solidFill>
              <a:srgbClr val="FFD16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499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18" charset="0"/>
              </a:rPr>
              <a:t>Kampanjac</a:t>
            </a:r>
            <a:endParaRPr lang="en-US" sz="1500" dirty="0"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" y="213969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B09FCC"/>
              </a:solidFill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“5 dana do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ispita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.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Odakle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 da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počnem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?"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" y="301752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Treba mu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intenzivan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, ali realan plan za kratko vreme. PILOT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generiše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plan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učenja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po energiji i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prioritetu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.</a:t>
            </a:r>
          </a:p>
          <a:p>
            <a:pPr marL="0" indent="0">
              <a:buNone/>
            </a:pPr>
            <a:endParaRPr lang="en-US" sz="105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" y="4242816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D0F2B"/>
          </a:solidFill>
          <a:ln w="6350">
            <a:solidFill>
              <a:srgbClr val="FFD16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6344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  <a:latin typeface="Georgia" panose="02040502050405020303" pitchFamily="18" charset="0"/>
              </a:rPr>
              <a:t>Modul 1 — Planer</a:t>
            </a:r>
            <a:endParaRPr lang="en-US" sz="85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743200" cy="3493008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10712" y="1499616"/>
            <a:ext cx="502920" cy="502920"/>
          </a:xfrm>
          <a:prstGeom prst="ellipse">
            <a:avLst/>
          </a:prstGeom>
          <a:solidFill>
            <a:srgbClr val="00302F"/>
          </a:solidFill>
          <a:ln w="6350">
            <a:solidFill>
              <a:srgbClr val="4ECD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4990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18" charset="0"/>
              </a:rPr>
              <a:t>Odlikaš</a:t>
            </a:r>
            <a:endParaRPr lang="en-US" sz="1500" dirty="0">
              <a:latin typeface="Georgia" panose="020405020504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392424" y="213969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B09FCC"/>
              </a:solidFill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"Učim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svaki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 dan,</a:t>
            </a:r>
            <a:r>
              <a:rPr lang="en-US" sz="1200" dirty="0">
                <a:latin typeface="Montserrat" pitchFamily="2" charset="0"/>
              </a:rPr>
              <a:t>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ali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 koliko zaista znam?"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392424" y="301752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Želi praćenje napretka i vizualizaciju savladanog. Difficulty heatmap i spaced repetition su za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njega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.</a:t>
            </a:r>
          </a:p>
          <a:p>
            <a:pPr marL="0" indent="0">
              <a:buNone/>
            </a:pP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392424" y="4242816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D0F2B"/>
          </a:solidFill>
          <a:ln w="6350">
            <a:solidFill>
              <a:srgbClr val="4ECD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392424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ECDC4"/>
                </a:solidFill>
                <a:latin typeface="Georgia" panose="02040502050405020303" pitchFamily="18" charset="0"/>
              </a:rPr>
              <a:t>Modul 2 — AI učenje</a:t>
            </a:r>
            <a:endParaRPr lang="en-US" sz="850" dirty="0">
              <a:latin typeface="Georgia" panose="02040502050405020303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172200" y="1298448"/>
            <a:ext cx="2743200" cy="3493008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336792" y="1499616"/>
            <a:ext cx="502920" cy="502920"/>
          </a:xfrm>
          <a:prstGeom prst="ellipse">
            <a:avLst/>
          </a:prstGeom>
          <a:solidFill>
            <a:srgbClr val="3A0000"/>
          </a:solidFill>
          <a:ln w="635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Confused person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82512" y="1549908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944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Georgia" panose="02040502050405020303" pitchFamily="18" charset="0"/>
              </a:rPr>
              <a:t>Neupućeni</a:t>
            </a:r>
            <a:r>
              <a:rPr lang="en-US" sz="1500" b="1" dirty="0">
                <a:solidFill>
                  <a:srgbClr val="FFFFFF"/>
                </a:solidFill>
                <a:latin typeface="Georgia" panose="02040502050405020303" pitchFamily="18" charset="0"/>
              </a:rPr>
              <a:t> student</a:t>
            </a:r>
            <a:endParaRPr lang="en-US" sz="1500" dirty="0">
              <a:latin typeface="Georgia" panose="02040502050405020303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318504" y="213969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“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Praksa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, to </a:t>
            </a:r>
            <a:r>
              <a:rPr lang="en-US" sz="1200" i="1" dirty="0" err="1">
                <a:solidFill>
                  <a:srgbClr val="B09FCC"/>
                </a:solidFill>
                <a:latin typeface="Montserrat" pitchFamily="2" charset="0"/>
              </a:rPr>
              <a:t>postoji</a:t>
            </a:r>
            <a:r>
              <a:rPr lang="en-US" sz="1200" i="1" dirty="0">
                <a:solidFill>
                  <a:srgbClr val="B09FCC"/>
                </a:solidFill>
                <a:latin typeface="Montserrat" pitchFamily="2" charset="0"/>
              </a:rPr>
              <a:t>?”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318504" y="301752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Prioritet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su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prilike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i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mogućnosti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. PILOT bira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najvažnije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stipendije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/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prakse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/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konferencije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i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šalje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notifikacije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50" dirty="0" err="1">
                <a:solidFill>
                  <a:srgbClr val="9890B8"/>
                </a:solidFill>
                <a:latin typeface="Montserrat" pitchFamily="2" charset="0"/>
              </a:rPr>
              <a:t>sa</a:t>
            </a:r>
            <a:r>
              <a:rPr lang="en-US" sz="1050" dirty="0">
                <a:solidFill>
                  <a:srgbClr val="9890B8"/>
                </a:solidFill>
                <a:latin typeface="Montserrat" pitchFamily="2" charset="0"/>
              </a:rPr>
              <a:t> rokovima.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318504" y="4242816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D0F2B"/>
          </a:solidFill>
          <a:ln w="635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318504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6B"/>
                </a:solidFill>
                <a:latin typeface="Georgia" panose="02040502050405020303" pitchFamily="18" charset="0"/>
              </a:rPr>
              <a:t>Modul 3 — Prilike</a:t>
            </a:r>
            <a:endParaRPr lang="en-US" sz="8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Postoje slični alati.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</a:t>
            </a: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postoji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PILOT.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313334"/>
              </p:ext>
            </p:extLst>
          </p:nvPr>
        </p:nvGraphicFramePr>
        <p:xfrm>
          <a:off x="320040" y="1417320"/>
          <a:ext cx="6537960" cy="285292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9890B8"/>
                          </a:solidFill>
                          <a:latin typeface="Montserrat" pitchFamily="2" charset="0"/>
                        </a:rPr>
                        <a:t>Alat</a:t>
                      </a:r>
                      <a:endParaRPr lang="en-US" sz="9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890B8"/>
                          </a:solidFill>
                          <a:latin typeface="Montserrat" pitchFamily="2" charset="0"/>
                        </a:rPr>
                        <a:t>Plan</a:t>
                      </a:r>
                      <a:endParaRPr lang="en-US" sz="9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890B8"/>
                          </a:solidFill>
                          <a:latin typeface="Montserrat" pitchFamily="2" charset="0"/>
                        </a:rPr>
                        <a:t>AI učenje</a:t>
                      </a:r>
                      <a:endParaRPr lang="en-US" sz="9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890B8"/>
                          </a:solidFill>
                          <a:latin typeface="Montserrat" pitchFamily="2" charset="0"/>
                        </a:rPr>
                        <a:t>Karijera</a:t>
                      </a:r>
                      <a:endParaRPr lang="en-US" sz="9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890B8"/>
                          </a:solidFill>
                          <a:latin typeface="Montserrat" pitchFamily="2" charset="0"/>
                        </a:rPr>
                        <a:t>Adaptivnost</a:t>
                      </a:r>
                      <a:endParaRPr lang="en-US" sz="9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Google Calendar</a:t>
                      </a:r>
                      <a:endParaRPr lang="en-US" sz="12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ECDC4"/>
                          </a:solidFill>
                        </a:rPr>
                        <a:t>✓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Notion / Todoist</a:t>
                      </a:r>
                      <a:endParaRPr lang="en-US" sz="12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ECDC4"/>
                          </a:solidFill>
                        </a:rPr>
                        <a:t>✓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Anki</a:t>
                      </a:r>
                      <a:endParaRPr lang="en-US" sz="12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ECDC4"/>
                          </a:solidFill>
                        </a:rPr>
                        <a:t>✓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ECDC4"/>
                          </a:solidFill>
                        </a:rPr>
                        <a:t>✓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LinkedIn</a:t>
                      </a:r>
                      <a:endParaRPr lang="en-US" sz="1250" dirty="0">
                        <a:latin typeface="Montserrat" pitchFamily="2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ECDC4"/>
                          </a:solidFill>
                        </a:rPr>
                        <a:t>✓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870"/>
                          </a:solidFill>
                        </a:rPr>
                        <a:t>✗</a:t>
                      </a:r>
                      <a:endParaRPr lang="en-US" sz="125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B8F0"/>
                          </a:solidFill>
                          <a:latin typeface="Montserrat" pitchFamily="2" charset="0"/>
                        </a:rPr>
                        <a:t>PILOT</a:t>
                      </a:r>
                      <a:r>
                        <a:rPr lang="en-US" sz="1300" b="1" dirty="0">
                          <a:solidFill>
                            <a:srgbClr val="C8B8F0"/>
                          </a:solidFill>
                        </a:rPr>
                        <a:t>  ★</a:t>
                      </a:r>
                      <a:endParaRPr lang="en-US" sz="130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B8F0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B8F0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B8F0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B8F0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anchor="ctr">
                    <a:lnL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E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86600" y="1417320"/>
            <a:ext cx="1828800" cy="3383280"/>
          </a:xfrm>
          <a:prstGeom prst="rect">
            <a:avLst/>
          </a:prstGeom>
          <a:solidFill>
            <a:srgbClr val="1C1040"/>
          </a:solidFill>
          <a:ln w="6350">
            <a:solidFill>
              <a:srgbClr val="7B5EA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1627632"/>
            <a:ext cx="384048" cy="384048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7150608" y="21031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8F0"/>
                </a:solidFill>
                <a:latin typeface="Montserrat" pitchFamily="2" charset="0"/>
              </a:rPr>
              <a:t>Jedini sistem koji radi sve tri stvari iz jednog studentskog </a:t>
            </a:r>
            <a:r>
              <a:rPr lang="en-US" sz="1100" dirty="0" err="1">
                <a:solidFill>
                  <a:srgbClr val="C8B8F0"/>
                </a:solidFill>
                <a:latin typeface="Montserrat" pitchFamily="2" charset="0"/>
              </a:rPr>
              <a:t>profila</a:t>
            </a:r>
            <a:r>
              <a:rPr lang="en-US" sz="1100" dirty="0">
                <a:solidFill>
                  <a:srgbClr val="C8B8F0"/>
                </a:solidFill>
                <a:latin typeface="Montserrat" pitchFamily="2" charset="0"/>
              </a:rPr>
              <a:t>.</a:t>
            </a:r>
          </a:p>
          <a:p>
            <a:pPr marL="0" indent="0" algn="ctr">
              <a:buNone/>
            </a:pPr>
            <a:endParaRPr lang="en-US" sz="1100" dirty="0">
              <a:solidFill>
                <a:srgbClr val="C8B8F0"/>
              </a:solidFill>
              <a:latin typeface="Montserrat" pitchFamily="2" charset="0"/>
            </a:endParaRPr>
          </a:p>
          <a:p>
            <a:pPr marL="0" indent="0" algn="ctr">
              <a:buNone/>
            </a:pPr>
            <a:endParaRPr lang="en-US" sz="1100" dirty="0">
              <a:latin typeface="Montserrat" pitchFamily="2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493008"/>
            <a:ext cx="347472" cy="3474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50608" y="3931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9FCC"/>
                </a:solidFill>
                <a:latin typeface="Montserrat" pitchFamily="2" charset="0"/>
              </a:rPr>
              <a:t>Adaptivno.</a:t>
            </a:r>
            <a:endParaRPr lang="en-US" sz="11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9FCC"/>
                </a:solidFill>
                <a:latin typeface="Montserrat" pitchFamily="2" charset="0"/>
              </a:rPr>
              <a:t>Personalizovano.</a:t>
            </a:r>
            <a:endParaRPr lang="en-US" sz="11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9FCC"/>
                </a:solidFill>
                <a:latin typeface="Montserrat" pitchFamily="2" charset="0"/>
              </a:rPr>
              <a:t>Koherentno.</a:t>
            </a:r>
            <a:endParaRPr lang="en-US" sz="11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629466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0" y="-73152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2240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Pilot ne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leti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naslepo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: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ima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plan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leta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,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zna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destinaciju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,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prati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instrumente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u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realnom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vremenu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reaguje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kad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se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nešto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promeni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. Isto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radi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app. </a:t>
            </a:r>
          </a:p>
          <a:p>
            <a:pPr algn="just"/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Student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nije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putnik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koji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čeka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da ga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neko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proveze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kroz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semestar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, on je pilot.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54880" y="365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Georgia" panose="02040502050405020303" pitchFamily="18" charset="0"/>
              </a:rPr>
              <a:t>Zašto</a:t>
            </a:r>
            <a:r>
              <a:rPr lang="en-US" sz="2000" b="1" dirty="0">
                <a:solidFill>
                  <a:srgbClr val="FFFFFF"/>
                </a:solidFill>
                <a:latin typeface="Georgia" panose="02040502050405020303" pitchFamily="18" charset="0"/>
              </a:rPr>
              <a:t> PILOT?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09160" y="987552"/>
            <a:ext cx="420624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2161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789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18" charset="0"/>
              </a:rPr>
              <a:t>Adaptivni planer</a:t>
            </a:r>
            <a:endParaRPr lang="en-US" sz="1250" dirty="0">
              <a:latin typeface="Georgia" panose="02040502050405020303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49240" y="1388481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Prilagođava se stvarnom životu studenta, ne idealnom.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709160" y="1975104"/>
            <a:ext cx="420624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0370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06654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18" charset="0"/>
              </a:rPr>
              <a:t>AI iz tvojih fajlova</a:t>
            </a:r>
            <a:endParaRPr lang="en-US" sz="1250" dirty="0">
              <a:latin typeface="Georgia" panose="02040502050405020303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349240" y="237462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Nema copy-paste. Gradivo se pretvara u interaktivno učenje.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709160" y="2962656"/>
            <a:ext cx="420624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19125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05409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18" charset="0"/>
              </a:rPr>
              <a:t>Prilike na vreme</a:t>
            </a:r>
            <a:endParaRPr lang="en-US" sz="1250" dirty="0">
              <a:latin typeface="Georgia" panose="02040502050405020303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349240" y="336745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Match score i deadline tracker sprječavaju propuštanje šansi.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709160" y="3950208"/>
            <a:ext cx="4206240" cy="804672"/>
          </a:xfrm>
          <a:prstGeom prst="rect">
            <a:avLst/>
          </a:prstGeom>
          <a:solidFill>
            <a:srgbClr val="1A1D3A"/>
          </a:solidFill>
          <a:ln w="6350">
            <a:solidFill>
              <a:srgbClr val="2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417880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40416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18" charset="0"/>
              </a:rPr>
              <a:t>Jedan profil</a:t>
            </a:r>
            <a:endParaRPr lang="en-US" sz="1250" dirty="0">
              <a:latin typeface="Georgia" panose="02040502050405020303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5349240" y="42885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Sve tri dimenzije </a:t>
            </a:r>
            <a:r>
              <a:rPr lang="en-US" sz="1000" dirty="0" err="1">
                <a:solidFill>
                  <a:srgbClr val="9890B8"/>
                </a:solidFill>
                <a:latin typeface="Montserrat" pitchFamily="2" charset="0"/>
              </a:rPr>
              <a:t>su</a:t>
            </a: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 </a:t>
            </a:r>
            <a:r>
              <a:rPr lang="en-US" sz="1000" dirty="0" err="1">
                <a:solidFill>
                  <a:srgbClr val="9890B8"/>
                </a:solidFill>
                <a:latin typeface="Montserrat" pitchFamily="2" charset="0"/>
              </a:rPr>
              <a:t>povezane</a:t>
            </a:r>
            <a:r>
              <a:rPr lang="en-US" sz="1000" dirty="0">
                <a:solidFill>
                  <a:srgbClr val="9890B8"/>
                </a:solidFill>
                <a:latin typeface="Montserrat" pitchFamily="2" charset="0"/>
              </a:rPr>
              <a:t>, to je prava razlika.</a:t>
            </a:r>
            <a:endParaRPr lang="en-US" sz="1000" dirty="0">
              <a:latin typeface="Montserrat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134FC3-BCD8-AD71-E69C-F571698D1E5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917" t="22892" r="17329" b="27113"/>
          <a:stretch>
            <a:fillRect/>
          </a:stretch>
        </p:blipFill>
        <p:spPr>
          <a:xfrm>
            <a:off x="495007" y="489336"/>
            <a:ext cx="3399106" cy="1453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449</Words>
  <Application>Microsoft Office PowerPoint</Application>
  <PresentationFormat>On-screen Show (16:9)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Georgia</vt:lpstr>
      <vt:lpstr>Montserrat</vt:lpstr>
      <vt:lpstr>Neon 80s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Studentska App</dc:title>
  <dc:subject>PptxGenJS Presentation</dc:subject>
  <dc:creator>PptxGenJS</dc:creator>
  <cp:lastModifiedBy>Lenka Nikolic</cp:lastModifiedBy>
  <cp:revision>4</cp:revision>
  <dcterms:created xsi:type="dcterms:W3CDTF">2026-04-07T19:00:15Z</dcterms:created>
  <dcterms:modified xsi:type="dcterms:W3CDTF">2026-04-07T20:01:46Z</dcterms:modified>
</cp:coreProperties>
</file>